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85800"/>
            <a:ext cx="109728" cy="5303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143000"/>
            <a:ext cx="9875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B263B"/>
                </a:solidFill>
                <a:latin typeface="Aptos Display"/>
              </a:defRPr>
            </a:pPr>
            <a:r>
              <a:t>BankEase Financial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423160"/>
            <a:ext cx="9875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6D28D9"/>
                </a:solidFill>
                <a:latin typeface="Aptos Display"/>
              </a:defRPr>
            </a:pPr>
            <a:r>
              <a:t>Customer Retention &amp; Churn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977639"/>
            <a:ext cx="9326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1E2F"/>
                </a:solidFill>
                <a:latin typeface="Aptos"/>
              </a:defRPr>
            </a:pPr>
            <a:r>
              <a:t>Business Analyst Capstone Case Study</a:t>
            </a:r>
          </a:p>
          <a:p>
            <a:pPr>
              <a:defRPr sz="1400">
                <a:solidFill>
                  <a:srgbClr val="5F6978"/>
                </a:solidFill>
                <a:latin typeface="Aptos"/>
              </a:defRPr>
            </a:pPr>
            <a:r>
              <a:t>Excel • SQL • PostgreSQL • 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5778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  <a:latin typeface="Aptos"/>
              </a:defRPr>
            </a:pPr>
            <a:r>
              <a:t>Prepared as a portfolio demonstration using synthetic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63B"/>
                </a:solidFill>
                <a:latin typeface="Aptos Display"/>
              </a:defRPr>
            </a:pPr>
            <a: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8"/>
                </a:solidFill>
                <a:latin typeface="Aptos"/>
              </a:defRPr>
            </a:pPr>
            <a:r>
              <a:t>A structured, data-driven approach to customer retention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965960" cy="1234440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234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1600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Aptos Display"/>
              </a:defRPr>
            </a:pPr>
            <a:r>
              <a:t>10,000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30552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417320"/>
            <a:ext cx="1965960" cy="1234440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17520" y="1417320"/>
            <a:ext cx="73152" cy="1234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581912"/>
            <a:ext cx="1600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Aptos Display"/>
              </a:defRPr>
            </a:pPr>
            <a:r>
              <a:t>5.91%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130552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  <a:latin typeface="Aptos"/>
              </a:defRPr>
            </a:pPr>
            <a:r>
              <a:t>Observed churn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9240" y="1417320"/>
            <a:ext cx="1965960" cy="1234440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49240" y="1417320"/>
            <a:ext cx="73152" cy="1234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50407" y="1581912"/>
            <a:ext cx="1600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Aptos Display"/>
              </a:defRPr>
            </a:pPr>
            <a:r>
              <a:t>94.09%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0407" y="2130552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  <a:latin typeface="Aptos"/>
              </a:defRPr>
            </a:pPr>
            <a:r>
              <a:t>Observed retention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1417320"/>
            <a:ext cx="1965960" cy="1234440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0" y="1417320"/>
            <a:ext cx="73152" cy="1234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8" y="1581912"/>
            <a:ext cx="1600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Aptos Display"/>
              </a:defRPr>
            </a:pPr>
            <a:r>
              <a:t>125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8" y="2130552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  <a:latin typeface="Aptos"/>
              </a:defRPr>
            </a:pPr>
            <a:r>
              <a:t>High-risk customers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12680" y="1417320"/>
            <a:ext cx="1965960" cy="1234440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12680" y="1417320"/>
            <a:ext cx="73152" cy="1234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13848" y="1581912"/>
            <a:ext cx="1600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Aptos Display"/>
              </a:defRPr>
            </a:pPr>
            <a:r>
              <a:t>4.0 /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13848" y="2130552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  <a:latin typeface="Aptos"/>
              </a:defRPr>
            </a:pPr>
            <a:r>
              <a:t>Avg. satisfaction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971800"/>
            <a:ext cx="10607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E1E2F"/>
                </a:solidFill>
                <a:latin typeface="Aptos"/>
              </a:defRPr>
            </a:pPr>
            <a:r>
              <a:t>Business problem: BankEase lacked a centralized, behavior-driven view of customer churn and retention risk.</a:t>
            </a:r>
          </a:p>
          <a:p>
            <a:pPr>
              <a:spcAft>
                <a:spcPts val="1000"/>
              </a:spcAft>
              <a:defRPr sz="1700" b="0">
                <a:solidFill>
                  <a:srgbClr val="1E1E2F"/>
                </a:solidFill>
                <a:latin typeface="Aptos"/>
              </a:defRPr>
            </a:pPr>
            <a:r>
              <a:t>Analysis objective: identify churn patterns, segment customers, prioritize potentially at-risk groups, and support retention decisions.</a:t>
            </a:r>
          </a:p>
          <a:p>
            <a:pPr>
              <a:spcAft>
                <a:spcPts val="1000"/>
              </a:spcAft>
              <a:defRPr sz="1700" b="0">
                <a:solidFill>
                  <a:srgbClr val="1E1E2F"/>
                </a:solidFill>
                <a:latin typeface="Aptos"/>
              </a:defRPr>
            </a:pPr>
            <a:r>
              <a:t>Solution: requirements-led analysis, validated synthetic data, SQL business analysis, and an interactive Power BI dashboard.</a:t>
            </a:r>
          </a:p>
          <a:p>
            <a:pPr>
              <a:spcAft>
                <a:spcPts val="1000"/>
              </a:spcAft>
              <a:defRPr sz="1700" b="0">
                <a:solidFill>
                  <a:srgbClr val="1E1E2F"/>
                </a:solidFill>
                <a:latin typeface="Aptos"/>
              </a:defRPr>
            </a:pPr>
            <a:r>
              <a:t>Scope: 10,000 synthetic customer records used for portfolio demonstration.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7C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  <a:latin typeface="Aptos"/>
              </a:defRPr>
            </a:pPr>
            <a:r>
              <a:t>BankEase Financial Services  •  Customer Retention &amp; Churn Analysis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63B"/>
                </a:solidFill>
                <a:latin typeface="Aptos Display"/>
              </a:defRPr>
            </a:pPr>
            <a:r>
              <a:t>Business Problem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E1E2F"/>
                </a:solidFill>
                <a:latin typeface="Aptos"/>
              </a:defRPr>
            </a:pPr>
            <a:r>
              <a:t>Fragmented customer information limited management visibility.</a:t>
            </a:r>
          </a:p>
          <a:p>
            <a:pPr>
              <a:spcAft>
                <a:spcPts val="1000"/>
              </a:spcAft>
              <a:defRPr sz="1900" b="0">
                <a:solidFill>
                  <a:srgbClr val="1E1E2F"/>
                </a:solidFill>
                <a:latin typeface="Aptos"/>
              </a:defRPr>
            </a:pPr>
            <a:r>
              <a:t>Retention activities were primarily reactive rather than consistently prioritized.</a:t>
            </a:r>
          </a:p>
          <a:p>
            <a:pPr>
              <a:spcAft>
                <a:spcPts val="1000"/>
              </a:spcAft>
              <a:defRPr sz="1900" b="0">
                <a:solidFill>
                  <a:srgbClr val="1E1E2F"/>
                </a:solidFill>
                <a:latin typeface="Aptos"/>
              </a:defRPr>
            </a:pPr>
            <a:r>
              <a:t>Behavioral signals such as transaction activity and digital usage were not sufficiently connected to churn analysis.</a:t>
            </a:r>
          </a:p>
          <a:p>
            <a:pPr>
              <a:spcAft>
                <a:spcPts val="1000"/>
              </a:spcAft>
              <a:defRPr sz="1900" b="0">
                <a:solidFill>
                  <a:srgbClr val="1E1E2F"/>
                </a:solidFill>
                <a:latin typeface="Aptos"/>
              </a:defRPr>
            </a:pPr>
            <a:r>
              <a:t>Complaint and satisfaction information was not easily connected with customer behavior.</a:t>
            </a:r>
          </a:p>
          <a:p>
            <a:pPr>
              <a:spcAft>
                <a:spcPts val="1000"/>
              </a:spcAft>
              <a:defRPr sz="1900" b="0">
                <a:solidFill>
                  <a:srgbClr val="1E1E2F"/>
                </a:solidFill>
                <a:latin typeface="Aptos"/>
              </a:defRPr>
            </a:pPr>
            <a:r>
              <a:t>KPI definitions and risk-identification practices needed greater consistency.</a:t>
            </a:r>
          </a:p>
          <a:p>
            <a:pPr>
              <a:spcAft>
                <a:spcPts val="1000"/>
              </a:spcAft>
              <a:defRPr sz="1900" b="0">
                <a:solidFill>
                  <a:srgbClr val="1E1E2F"/>
                </a:solidFill>
                <a:latin typeface="Aptos"/>
              </a:defRPr>
            </a:pPr>
            <a:r>
              <a:t>Objective: create a centralized, evidence-based decision-support approach for churn and retention.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394960"/>
            <a:ext cx="10698480" cy="731520"/>
          </a:xfrm>
          <a:prstGeom prst="roundRect">
            <a:avLst/>
          </a:prstGeom>
          <a:solidFill>
            <a:srgbClr val="F5F2FC"/>
          </a:solidFill>
          <a:ln>
            <a:solidFill>
              <a:srgbClr val="E1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504688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B263B"/>
                </a:solidFill>
                <a:latin typeface="Aptos"/>
              </a:defRPr>
            </a:pPr>
            <a:r>
              <a:t>Business question: Which customer segments and behaviors should receive retention attention?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7C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  <a:latin typeface="Aptos"/>
              </a:defRPr>
            </a:pPr>
            <a:r>
              <a:t>BankEase Financial Services  •  Customer Retention &amp; Churn Analysis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63B"/>
                </a:solidFill>
                <a:latin typeface="Aptos Display"/>
              </a:defRPr>
            </a:pPr>
            <a:r>
              <a:t>Stakeholder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8"/>
                </a:solidFill>
                <a:latin typeface="Aptos"/>
              </a:defRPr>
            </a:pPr>
            <a:r>
              <a:t>Key stakeholders and what they need from the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66360" cy="1078992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481328"/>
            <a:ext cx="4754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263B"/>
                </a:solidFill>
                <a:latin typeface="Aptos"/>
              </a:defRPr>
            </a:pPr>
            <a:r>
              <a:t>Head of Retail Banking</a:t>
            </a:r>
          </a:p>
          <a:p>
            <a:pPr>
              <a:defRPr sz="1100">
                <a:solidFill>
                  <a:srgbClr val="5F6978"/>
                </a:solidFill>
                <a:latin typeface="Aptos"/>
              </a:defRPr>
            </a:pPr>
            <a:r>
              <a:t>Executive visibility, churn trends, segment comparisons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71600"/>
            <a:ext cx="5166360" cy="1078992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6248" y="1481328"/>
            <a:ext cx="4754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263B"/>
                </a:solidFill>
                <a:latin typeface="Aptos"/>
              </a:defRPr>
            </a:pPr>
            <a:r>
              <a:t>Customer Success Manager</a:t>
            </a:r>
          </a:p>
          <a:p>
            <a:pPr>
              <a:defRPr sz="1100">
                <a:solidFill>
                  <a:srgbClr val="5F6978"/>
                </a:solidFill>
                <a:latin typeface="Aptos"/>
              </a:defRPr>
            </a:pPr>
            <a:r>
              <a:t>Earlier risk identification and retention prioritization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5166360" cy="1078992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898648"/>
            <a:ext cx="4754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263B"/>
                </a:solidFill>
                <a:latin typeface="Aptos"/>
              </a:defRPr>
            </a:pPr>
            <a:r>
              <a:t>Marketing Manager</a:t>
            </a:r>
          </a:p>
          <a:p>
            <a:pPr>
              <a:defRPr sz="1100">
                <a:solidFill>
                  <a:srgbClr val="5F6978"/>
                </a:solidFill>
                <a:latin typeface="Aptos"/>
              </a:defRPr>
            </a:pPr>
            <a:r>
              <a:t>Behavioral segmentation and measurable campaigns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788920"/>
            <a:ext cx="5166360" cy="1078992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2898648"/>
            <a:ext cx="4754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263B"/>
                </a:solidFill>
                <a:latin typeface="Aptos"/>
              </a:defRPr>
            </a:pPr>
            <a:r>
              <a:t>Customer Service Manager</a:t>
            </a:r>
          </a:p>
          <a:p>
            <a:pPr>
              <a:defRPr sz="1100">
                <a:solidFill>
                  <a:srgbClr val="5F6978"/>
                </a:solidFill>
                <a:latin typeface="Aptos"/>
              </a:defRPr>
            </a:pPr>
            <a:r>
              <a:t>Complaint, resolution and satisfaction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5166360" cy="1078992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315968"/>
            <a:ext cx="4754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263B"/>
                </a:solidFill>
                <a:latin typeface="Aptos"/>
              </a:defRPr>
            </a:pPr>
            <a:r>
              <a:t>Data Analyst</a:t>
            </a:r>
          </a:p>
          <a:p>
            <a:pPr>
              <a:defRPr sz="1100">
                <a:solidFill>
                  <a:srgbClr val="5F6978"/>
                </a:solidFill>
                <a:latin typeface="Aptos"/>
              </a:defRPr>
            </a:pPr>
            <a:r>
              <a:t>Data quality, common customer ID and KPI definitions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206240"/>
            <a:ext cx="5166360" cy="1078992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4315968"/>
            <a:ext cx="4754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263B"/>
                </a:solidFill>
                <a:latin typeface="Aptos"/>
              </a:defRPr>
            </a:pPr>
            <a:r>
              <a:t>IT Manager</a:t>
            </a:r>
          </a:p>
          <a:p>
            <a:pPr>
              <a:defRPr sz="1100">
                <a:solidFill>
                  <a:srgbClr val="5F6978"/>
                </a:solidFill>
                <a:latin typeface="Aptos"/>
              </a:defRPr>
            </a:pPr>
            <a:r>
              <a:t>Reliable, maintainable reporting solution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7C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  <a:latin typeface="Aptos"/>
              </a:defRPr>
            </a:pPr>
            <a:r>
              <a:t>BankEase Financial Services  •  Customer Retention &amp; Churn Analysis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63B"/>
                </a:solidFill>
                <a:latin typeface="Aptos Display"/>
              </a:defRPr>
            </a:pPr>
            <a:r>
              <a:t>Requirements &amp; BA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8"/>
                </a:solidFill>
                <a:latin typeface="Aptos"/>
              </a:defRPr>
            </a:pPr>
            <a:r>
              <a:t>Requirements were translated into traceable, testable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E1E2F"/>
                </a:solidFill>
                <a:latin typeface="Aptos"/>
              </a:defRPr>
            </a:pPr>
            <a:r>
              <a:t>Business Requirements Document (BRD) — business objectives, requirements, rules and KPIs.</a:t>
            </a:r>
          </a:p>
          <a:p>
            <a:pPr>
              <a:spcAft>
                <a:spcPts val="1000"/>
              </a:spcAft>
              <a:defRPr sz="1800" b="0">
                <a:solidFill>
                  <a:srgbClr val="1E1E2F"/>
                </a:solidFill>
                <a:latin typeface="Aptos"/>
              </a:defRPr>
            </a:pPr>
            <a:r>
              <a:t>20 Functional Requirements — reporting, segmentation, behavior, risk, data quality and management dashboard needs.</a:t>
            </a:r>
          </a:p>
          <a:p>
            <a:pPr>
              <a:spcAft>
                <a:spcPts val="1000"/>
              </a:spcAft>
              <a:defRPr sz="1800" b="0">
                <a:solidFill>
                  <a:srgbClr val="1E1E2F"/>
                </a:solidFill>
                <a:latin typeface="Aptos"/>
              </a:defRPr>
            </a:pPr>
            <a:r>
              <a:t>15 Non-Functional Requirements — performance, usability, reliability, security, scalability and maintainability.</a:t>
            </a:r>
          </a:p>
          <a:p>
            <a:pPr>
              <a:spcAft>
                <a:spcPts val="1000"/>
              </a:spcAft>
              <a:defRPr sz="1800" b="0">
                <a:solidFill>
                  <a:srgbClr val="1E1E2F"/>
                </a:solidFill>
                <a:latin typeface="Aptos"/>
              </a:defRPr>
            </a:pPr>
            <a:r>
              <a:t>15 User Stories — written from stakeholder perspectives with acceptance criteria.</a:t>
            </a:r>
          </a:p>
          <a:p>
            <a:pPr>
              <a:spcAft>
                <a:spcPts val="1000"/>
              </a:spcAft>
              <a:defRPr sz="1800" b="0">
                <a:solidFill>
                  <a:srgbClr val="1E1E2F"/>
                </a:solidFill>
                <a:latin typeface="Aptos"/>
              </a:defRPr>
            </a:pPr>
            <a:r>
              <a:t>Requirements Traceability Matrix — links business needs → requirements → user stories → acceptance criteria.</a:t>
            </a:r>
          </a:p>
          <a:p>
            <a:pPr>
              <a:spcAft>
                <a:spcPts val="1000"/>
              </a:spcAft>
              <a:defRPr sz="1800" b="0">
                <a:solidFill>
                  <a:srgbClr val="1E1E2F"/>
                </a:solidFill>
                <a:latin typeface="Aptos"/>
              </a:defRPr>
            </a:pPr>
            <a:r>
              <a:t>Data Dictionary — 25 customer fields with definitions and formats.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7C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  <a:latin typeface="Aptos"/>
              </a:defRPr>
            </a:pPr>
            <a:r>
              <a:t>BankEase Financial Services  •  Customer Retention &amp; Churn Analysis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63B"/>
                </a:solidFill>
                <a:latin typeface="Aptos Display"/>
              </a:defRPr>
            </a:pPr>
            <a:r>
              <a:t>Process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8"/>
                </a:solidFill>
                <a:latin typeface="Aptos"/>
              </a:defRPr>
            </a:pPr>
            <a:r>
              <a:t>From reactive retention to a monitored, feedback-driven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D28D9"/>
                </a:solidFill>
                <a:latin typeface="Aptos Display"/>
              </a:defRPr>
            </a:pPr>
            <a:r>
              <a:t>AS-IS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4754880" cy="393192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11095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1E2F"/>
                </a:solidFill>
                <a:latin typeface="Aptos"/>
              </a:defRPr>
            </a:pPr>
            <a:r>
              <a:t>Customer Activity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50008"/>
            <a:ext cx="4754880" cy="393192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386584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1E2F"/>
                </a:solidFill>
                <a:latin typeface="Aptos"/>
              </a:defRPr>
            </a:pPr>
            <a:r>
              <a:t>Data Collection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25496"/>
            <a:ext cx="4754880" cy="393192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862072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1E2F"/>
                </a:solidFill>
                <a:latin typeface="Aptos"/>
              </a:defRPr>
            </a:pPr>
            <a:r>
              <a:t>Periodic Reporting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00984"/>
            <a:ext cx="4754880" cy="393192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337560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1E2F"/>
                </a:solidFill>
                <a:latin typeface="Aptos"/>
              </a:defRPr>
            </a:pPr>
            <a:r>
              <a:t>Manual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76472"/>
            <a:ext cx="4754880" cy="393192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813048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1E2F"/>
                </a:solidFill>
                <a:latin typeface="Aptos"/>
              </a:defRPr>
            </a:pPr>
            <a:r>
              <a:t>Possible Churn Identified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51960"/>
            <a:ext cx="4754880" cy="393192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288536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1E2F"/>
                </a:solidFill>
                <a:latin typeface="Aptos"/>
              </a:defRPr>
            </a:pPr>
            <a:r>
              <a:t>Customer Contact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27448"/>
            <a:ext cx="4754880" cy="393192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764024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1E2F"/>
                </a:solidFill>
                <a:latin typeface="Aptos"/>
              </a:defRPr>
            </a:pPr>
            <a:r>
              <a:t>Outcome Recorded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3258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D28D9"/>
                </a:solidFill>
                <a:latin typeface="Aptos Display"/>
              </a:defRPr>
            </a:pPr>
            <a:r>
              <a:t>TO-BE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874519"/>
            <a:ext cx="4754880" cy="393192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1911095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1E2F"/>
                </a:solidFill>
                <a:latin typeface="Aptos"/>
              </a:defRPr>
            </a:pPr>
            <a:r>
              <a:t>Customer Activity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350008"/>
            <a:ext cx="4754880" cy="393192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2386584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1E2F"/>
                </a:solidFill>
                <a:latin typeface="Aptos"/>
              </a:defRPr>
            </a:pPr>
            <a:r>
              <a:t>Data Integration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825496"/>
            <a:ext cx="4754880" cy="393192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2862072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1E2F"/>
                </a:solidFill>
                <a:latin typeface="Aptos"/>
              </a:defRPr>
            </a:pPr>
            <a:r>
              <a:t>Data Quality Validation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300984"/>
            <a:ext cx="4754880" cy="393192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337560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1E2F"/>
                </a:solidFill>
                <a:latin typeface="Aptos"/>
              </a:defRPr>
            </a:pPr>
            <a:r>
              <a:t>Centralized Analysis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776472"/>
            <a:ext cx="4754880" cy="393192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813048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1E2F"/>
                </a:solidFill>
                <a:latin typeface="Aptos"/>
              </a:defRPr>
            </a:pPr>
            <a:r>
              <a:t>Churn &amp; Risk Analysis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251960"/>
            <a:ext cx="4754880" cy="393192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288536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1E2F"/>
                </a:solidFill>
                <a:latin typeface="Aptos"/>
              </a:defRPr>
            </a:pPr>
            <a:r>
              <a:t>Prioritize At-Risk Customers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4727448"/>
            <a:ext cx="4754880" cy="393192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764024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1E2F"/>
                </a:solidFill>
                <a:latin typeface="Aptos"/>
              </a:defRPr>
            </a:pPr>
            <a:r>
              <a:t>Targeted Action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5202936"/>
            <a:ext cx="4754880" cy="393192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5239512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1E2F"/>
                </a:solidFill>
                <a:latin typeface="Aptos"/>
              </a:defRPr>
            </a:pPr>
            <a:r>
              <a:t>Track Outcome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5678423"/>
            <a:ext cx="4754880" cy="393192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5714999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1E2F"/>
                </a:solidFill>
                <a:latin typeface="Aptos"/>
              </a:defRPr>
            </a:pPr>
            <a:r>
              <a:t>Management Dashboard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989320"/>
            <a:ext cx="10698480" cy="411480"/>
          </a:xfrm>
          <a:prstGeom prst="roundRect">
            <a:avLst/>
          </a:prstGeom>
          <a:solidFill>
            <a:srgbClr val="F5F2FC"/>
          </a:solidFill>
          <a:ln>
            <a:solidFill>
              <a:srgbClr val="E1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6099048"/>
            <a:ext cx="10241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B263B"/>
                </a:solidFill>
                <a:latin typeface="Aptos"/>
              </a:defRPr>
            </a:pPr>
            <a:r>
              <a:t>Key improvement: integrate data → identify risk earlier → target action → measure outcome → continuously improve.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7C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  <a:latin typeface="Aptos"/>
              </a:defRPr>
            </a:pPr>
            <a:r>
              <a:t>BankEase Financial Services  •  Customer Retention &amp; Churn Analysis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63B"/>
                </a:solidFill>
                <a:latin typeface="Aptos Display"/>
              </a:defRPr>
            </a:pPr>
            <a:r>
              <a:t>Data Preparation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8"/>
                </a:solidFill>
                <a:latin typeface="Aptos"/>
              </a:defRPr>
            </a:pPr>
            <a:r>
              <a:t>Validation was completed before business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2377440" cy="1325880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13258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81912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Aptos Display"/>
              </a:defRPr>
            </a:pPr>
            <a:r>
              <a:t>10,000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13055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  <a:latin typeface="Aptos"/>
              </a:defRPr>
            </a:pPr>
            <a:r>
              <a:t>Records validated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417320"/>
            <a:ext cx="2377440" cy="1325880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1417320"/>
            <a:ext cx="73152" cy="13258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1581912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Aptos Display"/>
              </a:defRPr>
            </a:pPr>
            <a:r>
              <a:t>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13055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  <a:latin typeface="Aptos"/>
              </a:defRPr>
            </a:pPr>
            <a:r>
              <a:t>Customer fields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2377440" cy="1325880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73152" cy="13258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581912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13055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  <a:latin typeface="Aptos"/>
              </a:defRPr>
            </a:pPr>
            <a:r>
              <a:t>Duplicate IDs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1417320"/>
            <a:ext cx="2377440" cy="1325880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5400" y="1417320"/>
            <a:ext cx="73152" cy="13258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6568" y="1581912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8" y="213055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  <a:latin typeface="Aptos"/>
              </a:defRPr>
            </a:pPr>
            <a:r>
              <a:t>Validation errors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154680"/>
            <a:ext cx="10241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E1E2F"/>
                </a:solidFill>
                <a:latin typeface="Aptos"/>
              </a:defRPr>
            </a:pPr>
            <a:r>
              <a:t>Customer_ID uniqueness and completeness checks</a:t>
            </a:r>
          </a:p>
          <a:p>
            <a:pPr>
              <a:spcAft>
                <a:spcPts val="1000"/>
              </a:spcAft>
              <a:defRPr sz="1700" b="0">
                <a:solidFill>
                  <a:srgbClr val="1E1E2F"/>
                </a:solidFill>
                <a:latin typeface="Aptos"/>
              </a:defRPr>
            </a:pPr>
            <a:r>
              <a:t>Valid ranges for age, tenure, satisfaction and risk score</a:t>
            </a:r>
          </a:p>
          <a:p>
            <a:pPr>
              <a:spcAft>
                <a:spcPts val="1000"/>
              </a:spcAft>
              <a:defRPr sz="1700" b="0">
                <a:solidFill>
                  <a:srgbClr val="1E1E2F"/>
                </a:solidFill>
                <a:latin typeface="Aptos"/>
              </a:defRPr>
            </a:pPr>
            <a:r>
              <a:t>Binary-field validation for product and digital usage indicators</a:t>
            </a:r>
          </a:p>
          <a:p>
            <a:pPr>
              <a:spcAft>
                <a:spcPts val="1000"/>
              </a:spcAft>
              <a:defRPr sz="1700" b="0">
                <a:solidFill>
                  <a:srgbClr val="1E1E2F"/>
                </a:solidFill>
                <a:latin typeface="Aptos"/>
              </a:defRPr>
            </a:pPr>
            <a:r>
              <a:t>Customer status and churn flag consistency checks</a:t>
            </a:r>
          </a:p>
          <a:p>
            <a:pPr>
              <a:spcAft>
                <a:spcPts val="1000"/>
              </a:spcAft>
              <a:defRPr sz="1700" b="0">
                <a:solidFill>
                  <a:srgbClr val="1E1E2F"/>
                </a:solidFill>
                <a:latin typeface="Aptos"/>
              </a:defRPr>
            </a:pPr>
            <a:r>
              <a:t>Churn-date validation for churned customers</a:t>
            </a:r>
          </a:p>
          <a:p>
            <a:pPr>
              <a:spcAft>
                <a:spcPts val="1000"/>
              </a:spcAft>
              <a:defRPr sz="1700" b="0">
                <a:solidFill>
                  <a:srgbClr val="1E1E2F"/>
                </a:solidFill>
                <a:latin typeface="Aptos"/>
              </a:defRPr>
            </a:pPr>
            <a:r>
              <a:t>Numeric activity fields checked for invalid negative values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7C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  <a:latin typeface="Aptos"/>
              </a:defRPr>
            </a:pPr>
            <a:r>
              <a:t>BankEase Financial Services  •  Customer Retention &amp; Churn Analysis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63B"/>
                </a:solidFill>
                <a:latin typeface="Aptos Display"/>
              </a:defRPr>
            </a:pPr>
            <a:r>
              <a:t>SQL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8"/>
                </a:solidFill>
                <a:latin typeface="Aptos"/>
              </a:defRPr>
            </a:pPr>
            <a:r>
              <a:t>Business questions translated into reproducible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E1E2F"/>
                </a:solidFill>
                <a:latin typeface="Aptos"/>
              </a:defRPr>
            </a:pPr>
            <a:r>
              <a:t>PostgreSQL database: bankease_ba</a:t>
            </a:r>
          </a:p>
          <a:p>
            <a:pPr>
              <a:spcAft>
                <a:spcPts val="1000"/>
              </a:spcAft>
              <a:defRPr sz="1800" b="0">
                <a:solidFill>
                  <a:srgbClr val="1E1E2F"/>
                </a:solidFill>
                <a:latin typeface="Aptos"/>
              </a:defRPr>
            </a:pPr>
            <a:r>
              <a:t>Table: public.bankease_customers</a:t>
            </a:r>
          </a:p>
          <a:p>
            <a:pPr>
              <a:spcAft>
                <a:spcPts val="1000"/>
              </a:spcAft>
              <a:defRPr sz="1800" b="0">
                <a:solidFill>
                  <a:srgbClr val="1E1E2F"/>
                </a:solidFill>
                <a:latin typeface="Aptos"/>
              </a:defRPr>
            </a:pPr>
            <a:r>
              <a:t>10,000 records loaded and validated</a:t>
            </a:r>
          </a:p>
          <a:p>
            <a:pPr>
              <a:spcAft>
                <a:spcPts val="1000"/>
              </a:spcAft>
              <a:defRPr sz="1800" b="0">
                <a:solidFill>
                  <a:srgbClr val="1E1E2F"/>
                </a:solidFill>
                <a:latin typeface="Aptos"/>
              </a:defRPr>
            </a:pPr>
            <a:r>
              <a:t>Business analysis covered churn by activity recency, account type, tenure, products, complaints and other customer attributes.</a:t>
            </a:r>
          </a:p>
          <a:p>
            <a:pPr>
              <a:spcAft>
                <a:spcPts val="1000"/>
              </a:spcAft>
              <a:defRPr sz="1800" b="0">
                <a:solidFill>
                  <a:srgbClr val="1E1E2F"/>
                </a:solidFill>
                <a:latin typeface="Aptos"/>
              </a:defRPr>
            </a:pPr>
            <a:r>
              <a:t>KPI queries standardized churn, retention and risk-related measures.</a:t>
            </a:r>
          </a:p>
          <a:p>
            <a:pPr>
              <a:spcAft>
                <a:spcPts val="1000"/>
              </a:spcAft>
              <a:defRPr sz="1800" b="0">
                <a:solidFill>
                  <a:srgbClr val="1E1E2F"/>
                </a:solidFill>
                <a:latin typeface="Aptos"/>
              </a:defRPr>
            </a:pPr>
            <a:r>
              <a:t>Example: activity recency analysis showed a sharp increase in observed churn among customers with longer periods since their last transaction.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83480"/>
            <a:ext cx="10698480" cy="731520"/>
          </a:xfrm>
          <a:prstGeom prst="roundRect">
            <a:avLst/>
          </a:prstGeom>
          <a:solidFill>
            <a:srgbClr val="F5F2FC"/>
          </a:solidFill>
          <a:ln>
            <a:solidFill>
              <a:srgbClr val="E1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093208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B263B"/>
                </a:solidFill>
                <a:latin typeface="Aptos"/>
              </a:defRPr>
            </a:pPr>
            <a:r>
              <a:t>SQL insight: 60+ days since last transaction → 21.45% observed churn vs 1.68% for 0–7 days.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7C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  <a:latin typeface="Aptos"/>
              </a:defRPr>
            </a:pPr>
            <a:r>
              <a:t>BankEase Financial Services  •  Customer Retention &amp; Churn Analysis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63B"/>
                </a:solidFill>
                <a:latin typeface="Aptos Display"/>
              </a:defRPr>
            </a:pPr>
            <a:r>
              <a:t>Power BI Decision-Support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8"/>
                </a:solidFill>
                <a:latin typeface="Aptos"/>
              </a:defRPr>
            </a:pPr>
            <a:r>
              <a:t>Three-page dashboard designed for different management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246120" cy="4251960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2788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28D9"/>
                </a:solidFill>
                <a:latin typeface="Aptos Display"/>
              </a:defRPr>
            </a:pPr>
            <a:r>
              <a:t>01  Executive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2788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1E2F"/>
                </a:solidFill>
                <a:latin typeface="Aptos"/>
              </a:defRPr>
            </a:pPr>
            <a:r>
              <a:t>5 KPI cards</a:t>
            </a:r>
          </a:p>
          <a:p>
            <a:pPr>
              <a:spcAft>
                <a:spcPts val="700"/>
              </a:spcAft>
              <a:defRPr sz="1200">
                <a:solidFill>
                  <a:srgbClr val="1E1E2F"/>
                </a:solidFill>
                <a:latin typeface="Aptos"/>
              </a:defRPr>
            </a:pPr>
            <a:r>
              <a:t>Churn by account type</a:t>
            </a:r>
          </a:p>
          <a:p>
            <a:pPr>
              <a:spcAft>
                <a:spcPts val="700"/>
              </a:spcAft>
              <a:defRPr sz="1200">
                <a:solidFill>
                  <a:srgbClr val="1E1E2F"/>
                </a:solidFill>
                <a:latin typeface="Aptos"/>
              </a:defRPr>
            </a:pPr>
            <a:r>
              <a:t>Activity recency</a:t>
            </a:r>
          </a:p>
          <a:p>
            <a:pPr>
              <a:spcAft>
                <a:spcPts val="700"/>
              </a:spcAft>
              <a:defRPr sz="1200">
                <a:solidFill>
                  <a:srgbClr val="1E1E2F"/>
                </a:solidFill>
                <a:latin typeface="Aptos"/>
              </a:defRPr>
            </a:pPr>
            <a:r>
              <a:t>Tenure</a:t>
            </a:r>
          </a:p>
          <a:p>
            <a:pPr>
              <a:spcAft>
                <a:spcPts val="700"/>
              </a:spcAft>
              <a:defRPr sz="1200">
                <a:solidFill>
                  <a:srgbClr val="1E1E2F"/>
                </a:solidFill>
                <a:latin typeface="Aptos"/>
              </a:defRPr>
            </a:pPr>
            <a:r>
              <a:t>Mobile banking</a:t>
            </a:r>
          </a:p>
          <a:p>
            <a:pPr>
              <a:spcAft>
                <a:spcPts val="700"/>
              </a:spcAft>
              <a:defRPr sz="1200">
                <a:solidFill>
                  <a:srgbClr val="1E1E2F"/>
                </a:solidFill>
                <a:latin typeface="Aptos"/>
              </a:defRPr>
            </a:pPr>
            <a:r>
              <a:t>Complaints</a:t>
            </a:r>
          </a:p>
          <a:p>
            <a:pPr>
              <a:spcAft>
                <a:spcPts val="700"/>
              </a:spcAft>
              <a:defRPr sz="1200">
                <a:solidFill>
                  <a:srgbClr val="1E1E2F"/>
                </a:solidFill>
                <a:latin typeface="Aptos"/>
              </a:defRPr>
            </a:pPr>
            <a:r>
              <a:t>Account &amp; risk slicers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417320"/>
            <a:ext cx="3246120" cy="4251960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91640"/>
            <a:ext cx="2788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28D9"/>
                </a:solidFill>
                <a:latin typeface="Aptos Display"/>
              </a:defRPr>
            </a:pPr>
            <a:r>
              <a:t>02  Churn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377440"/>
            <a:ext cx="2788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1E2F"/>
                </a:solidFill>
                <a:latin typeface="Aptos"/>
              </a:defRPr>
            </a:pPr>
            <a:r>
              <a:t>Churn rate by account type</a:t>
            </a:r>
          </a:p>
          <a:p>
            <a:pPr>
              <a:spcAft>
                <a:spcPts val="700"/>
              </a:spcAft>
              <a:defRPr sz="1200">
                <a:solidFill>
                  <a:srgbClr val="1E1E2F"/>
                </a:solidFill>
                <a:latin typeface="Aptos"/>
              </a:defRPr>
            </a:pPr>
            <a:r>
              <a:t>Activity recency</a:t>
            </a:r>
          </a:p>
          <a:p>
            <a:pPr>
              <a:spcAft>
                <a:spcPts val="700"/>
              </a:spcAft>
              <a:defRPr sz="1200">
                <a:solidFill>
                  <a:srgbClr val="1E1E2F"/>
                </a:solidFill>
                <a:latin typeface="Aptos"/>
              </a:defRPr>
            </a:pPr>
            <a:r>
              <a:t>Tenure</a:t>
            </a:r>
          </a:p>
          <a:p>
            <a:pPr>
              <a:spcAft>
                <a:spcPts val="700"/>
              </a:spcAft>
              <a:defRPr sz="1200">
                <a:solidFill>
                  <a:srgbClr val="1E1E2F"/>
                </a:solidFill>
                <a:latin typeface="Aptos"/>
              </a:defRPr>
            </a:pPr>
            <a:r>
              <a:t>Satisfaction</a:t>
            </a:r>
          </a:p>
          <a:p>
            <a:pPr>
              <a:spcAft>
                <a:spcPts val="700"/>
              </a:spcAft>
              <a:defRPr sz="1200">
                <a:solidFill>
                  <a:srgbClr val="1E1E2F"/>
                </a:solidFill>
                <a:latin typeface="Aptos"/>
              </a:defRPr>
            </a:pPr>
            <a:r>
              <a:t>Number of products</a:t>
            </a:r>
          </a:p>
          <a:p>
            <a:pPr>
              <a:spcAft>
                <a:spcPts val="700"/>
              </a:spcAft>
              <a:defRPr sz="1200">
                <a:solidFill>
                  <a:srgbClr val="1E1E2F"/>
                </a:solidFill>
                <a:latin typeface="Aptos"/>
              </a:defRPr>
            </a:pPr>
            <a:r>
              <a:t>Complaint level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417320"/>
            <a:ext cx="3246120" cy="4251960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691640"/>
            <a:ext cx="2788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28D9"/>
                </a:solidFill>
                <a:latin typeface="Aptos Display"/>
              </a:defRPr>
            </a:pPr>
            <a:r>
              <a:t>03  Customer Risk &amp; Retention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377440"/>
            <a:ext cx="2788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1E2F"/>
                </a:solidFill>
                <a:latin typeface="Aptos"/>
              </a:defRPr>
            </a:pPr>
            <a:r>
              <a:t>Customers by risk level</a:t>
            </a:r>
          </a:p>
          <a:p>
            <a:pPr>
              <a:spcAft>
                <a:spcPts val="700"/>
              </a:spcAft>
              <a:defRPr sz="1200">
                <a:solidFill>
                  <a:srgbClr val="1E1E2F"/>
                </a:solidFill>
                <a:latin typeface="Aptos"/>
              </a:defRPr>
            </a:pPr>
            <a:r>
              <a:t>Churn rate by risk</a:t>
            </a:r>
          </a:p>
          <a:p>
            <a:pPr>
              <a:spcAft>
                <a:spcPts val="700"/>
              </a:spcAft>
              <a:defRPr sz="1200">
                <a:solidFill>
                  <a:srgbClr val="1E1E2F"/>
                </a:solidFill>
                <a:latin typeface="Aptos"/>
              </a:defRPr>
            </a:pPr>
            <a:r>
              <a:t>Average risk score by account type</a:t>
            </a:r>
          </a:p>
          <a:p>
            <a:pPr>
              <a:spcAft>
                <a:spcPts val="700"/>
              </a:spcAft>
              <a:defRPr sz="1200">
                <a:solidFill>
                  <a:srgbClr val="1E1E2F"/>
                </a:solidFill>
                <a:latin typeface="Aptos"/>
              </a:defRPr>
            </a:pPr>
            <a:r>
              <a:t>High-risk customers by account 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7C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  <a:latin typeface="Aptos"/>
              </a:defRPr>
            </a:pPr>
            <a:r>
              <a:t>BankEase Financial Services  •  Customer Retention &amp; Churn Analysis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63B"/>
                </a:solidFill>
                <a:latin typeface="Aptos Display"/>
              </a:defRPr>
            </a:pPr>
            <a:r>
              <a:t>Key Analytical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8"/>
                </a:solidFill>
                <a:latin typeface="Aptos"/>
              </a:defRPr>
            </a:pPr>
            <a:r>
              <a:t>Observed patterns from the synthetic portfolio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83280" cy="1417320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417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90472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Aptos Display"/>
              </a:defRPr>
            </a:pPr>
            <a:r>
              <a:t>21.45%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391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  <a:latin typeface="Aptos"/>
              </a:defRPr>
            </a:pPr>
            <a:r>
              <a:t>Churn: 60+ days since last transaction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383280" cy="1417320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73152" cy="1417320"/>
          </a:xfrm>
          <a:prstGeom prst="rect">
            <a:avLst/>
          </a:prstGeom>
          <a:solidFill>
            <a:srgbClr val="E7C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490472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Aptos Display"/>
              </a:defRPr>
            </a:pPr>
            <a:r>
              <a:t>15.00%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391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  <a:latin typeface="Aptos"/>
              </a:defRPr>
            </a:pPr>
            <a:r>
              <a:t>Churn: customers with 2+ complaints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383280" cy="1417320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73152" cy="1417320"/>
          </a:xfrm>
          <a:prstGeom prst="rect">
            <a:avLst/>
          </a:prstGeom>
          <a:solidFill>
            <a:srgbClr val="2FB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490472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Aptos Display"/>
              </a:defRPr>
            </a:pPr>
            <a:r>
              <a:t>68.90%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0391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  <a:latin typeface="Aptos"/>
              </a:defRPr>
            </a:pPr>
            <a:r>
              <a:t>Churn: High-risk 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46120"/>
            <a:ext cx="10424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E1E2F"/>
                </a:solidFill>
                <a:latin typeface="Aptos"/>
              </a:defRPr>
            </a:pPr>
            <a:r>
              <a:t>Transaction recency shows a substantial difference in observed churn across activity groups.</a:t>
            </a:r>
          </a:p>
          <a:p>
            <a:pPr>
              <a:spcAft>
                <a:spcPts val="1000"/>
              </a:spcAft>
              <a:defRPr sz="1800" b="0">
                <a:solidFill>
                  <a:srgbClr val="1E1E2F"/>
                </a:solidFill>
                <a:latin typeface="Aptos"/>
              </a:defRPr>
            </a:pPr>
            <a:r>
              <a:t>Repeated complaints are associated with higher observed churn.</a:t>
            </a:r>
          </a:p>
          <a:p>
            <a:pPr>
              <a:spcAft>
                <a:spcPts val="1000"/>
              </a:spcAft>
              <a:defRPr sz="1800" b="0">
                <a:solidFill>
                  <a:srgbClr val="1E1E2F"/>
                </a:solidFill>
                <a:latin typeface="Aptos"/>
              </a:defRPr>
            </a:pPr>
            <a:r>
              <a:t>Risk level separates customer groups with markedly different observed churn rates.</a:t>
            </a:r>
          </a:p>
          <a:p>
            <a:pPr>
              <a:spcAft>
                <a:spcPts val="1000"/>
              </a:spcAft>
              <a:defRPr sz="1800" b="0">
                <a:solidFill>
                  <a:srgbClr val="1E1E2F"/>
                </a:solidFill>
                <a:latin typeface="Aptos"/>
              </a:defRPr>
            </a:pPr>
            <a:r>
              <a:t>These relationships support prioritization and monitoring; they do not establish causation.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7C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  <a:latin typeface="Aptos"/>
              </a:defRPr>
            </a:pPr>
            <a:r>
              <a:t>BankEase Financial Services  •  Customer Retention &amp; Churn Analysis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63B"/>
                </a:solidFill>
                <a:latin typeface="Aptos Display"/>
              </a:defRPr>
            </a:pPr>
            <a:r>
              <a:t>Risk-Level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8"/>
                </a:solidFill>
                <a:latin typeface="Aptos"/>
              </a:defRPr>
            </a:pPr>
            <a:r>
              <a:t>Risk classification can support retention prioritization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3108960" cy="1371600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417320"/>
            <a:ext cx="73152" cy="13716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581912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Aptos Display"/>
              </a:defRPr>
            </a:pPr>
            <a:r>
              <a:t>68.90%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1305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  <a:latin typeface="Aptos"/>
              </a:defRPr>
            </a:pPr>
            <a:r>
              <a:t>High-risk observed churn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417320"/>
            <a:ext cx="3108960" cy="1371600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417320"/>
            <a:ext cx="73152" cy="1371600"/>
          </a:xfrm>
          <a:prstGeom prst="rect">
            <a:avLst/>
          </a:prstGeom>
          <a:solidFill>
            <a:srgbClr val="E7C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1581912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Aptos Display"/>
              </a:defRPr>
            </a:pPr>
            <a:r>
              <a:t>24.61%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21305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  <a:latin typeface="Aptos"/>
              </a:defRPr>
            </a:pPr>
            <a:r>
              <a:t>Medium-risk observed churn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108960" cy="1371600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73152" cy="1371600"/>
          </a:xfrm>
          <a:prstGeom prst="rect">
            <a:avLst/>
          </a:prstGeom>
          <a:solidFill>
            <a:srgbClr val="2FB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581912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Aptos Display"/>
              </a:defRPr>
            </a:pPr>
            <a:r>
              <a:t>3.62%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1305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  <a:latin typeface="Aptos"/>
              </a:defRPr>
            </a:pPr>
            <a:r>
              <a:t>Low-risk observed churn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246120"/>
            <a:ext cx="103327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E1E2F"/>
                </a:solidFill>
                <a:latin typeface="Aptos"/>
              </a:defRPr>
            </a:pPr>
            <a:r>
              <a:t>High-risk customers should receive earlier review and potentially more personalized retention attention.</a:t>
            </a:r>
          </a:p>
          <a:p>
            <a:pPr>
              <a:spcAft>
                <a:spcPts val="1000"/>
              </a:spcAft>
              <a:defRPr sz="1800" b="0">
                <a:solidFill>
                  <a:srgbClr val="1E1E2F"/>
                </a:solidFill>
                <a:latin typeface="Aptos"/>
              </a:defRPr>
            </a:pPr>
            <a:r>
              <a:t>Medium-risk customers can be monitored with targeted engagement.</a:t>
            </a:r>
          </a:p>
          <a:p>
            <a:pPr>
              <a:spcAft>
                <a:spcPts val="1000"/>
              </a:spcAft>
              <a:defRPr sz="1800" b="0">
                <a:solidFill>
                  <a:srgbClr val="1E1E2F"/>
                </a:solidFill>
                <a:latin typeface="Aptos"/>
              </a:defRPr>
            </a:pPr>
            <a:r>
              <a:t>Low-risk customers can be managed primarily through ongoing engagement and relationship-building.</a:t>
            </a:r>
          </a:p>
          <a:p>
            <a:pPr>
              <a:spcAft>
                <a:spcPts val="1000"/>
              </a:spcAft>
              <a:defRPr sz="1800" b="0">
                <a:solidFill>
                  <a:srgbClr val="1E1E2F"/>
                </a:solidFill>
                <a:latin typeface="Aptos"/>
              </a:defRPr>
            </a:pPr>
            <a:r>
              <a:t>The risk framework should be validated against future outcomes before production use.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7C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  <a:latin typeface="Aptos"/>
              </a:defRPr>
            </a:pPr>
            <a:r>
              <a:t>BankEase Financial Services  •  Customer Retention &amp; Churn Analysis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63B"/>
                </a:solidFill>
                <a:latin typeface="Aptos Display"/>
              </a:defRPr>
            </a:pPr>
            <a:r>
              <a:t>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E1E2F"/>
                </a:solidFill>
                <a:latin typeface="Aptos"/>
              </a:defRPr>
            </a:pPr>
            <a:r>
              <a:t>1. Introduce early-warning indicators using transaction recency, transaction frequency, complaints, satisfaction and digital engagement.</a:t>
            </a:r>
          </a:p>
          <a:p>
            <a:pPr>
              <a:spcAft>
                <a:spcPts val="1000"/>
              </a:spcAft>
              <a:defRPr sz="1800" b="0">
                <a:solidFill>
                  <a:srgbClr val="1E1E2F"/>
                </a:solidFill>
                <a:latin typeface="Aptos"/>
              </a:defRPr>
            </a:pPr>
            <a:r>
              <a:t>2. Prioritize customers using a standardized risk framework rather than treating all customers identically.</a:t>
            </a:r>
          </a:p>
          <a:p>
            <a:pPr>
              <a:spcAft>
                <a:spcPts val="1000"/>
              </a:spcAft>
              <a:defRPr sz="1800" b="0">
                <a:solidFill>
                  <a:srgbClr val="1E1E2F"/>
                </a:solidFill>
                <a:latin typeface="Aptos"/>
              </a:defRPr>
            </a:pPr>
            <a:r>
              <a:t>3. Create a complaint-based retention trigger for customers with repeated complaints, especially when combined with other risk indicators.</a:t>
            </a:r>
          </a:p>
          <a:p>
            <a:pPr>
              <a:spcAft>
                <a:spcPts val="1000"/>
              </a:spcAft>
              <a:defRPr sz="1800" b="0">
                <a:solidFill>
                  <a:srgbClr val="1E1E2F"/>
                </a:solidFill>
                <a:latin typeface="Aptos"/>
              </a:defRPr>
            </a:pPr>
            <a:r>
              <a:t>4. Connect customer-service data with behavioral and transaction data.</a:t>
            </a:r>
          </a:p>
          <a:p>
            <a:pPr>
              <a:spcAft>
                <a:spcPts val="1000"/>
              </a:spcAft>
              <a:defRPr sz="1800" b="0">
                <a:solidFill>
                  <a:srgbClr val="1E1E2F"/>
                </a:solidFill>
                <a:latin typeface="Aptos"/>
              </a:defRPr>
            </a:pPr>
            <a:r>
              <a:t>5. Standardize churn, retention, activity and risk KPIs across management reporting.</a:t>
            </a:r>
          </a:p>
          <a:p>
            <a:pPr>
              <a:spcAft>
                <a:spcPts val="1000"/>
              </a:spcAft>
              <a:defRPr sz="1800" b="0">
                <a:solidFill>
                  <a:srgbClr val="1E1E2F"/>
                </a:solidFill>
                <a:latin typeface="Aptos"/>
              </a:defRPr>
            </a:pPr>
            <a:r>
              <a:t>6. Track every retention intervention and measure the subsequent customer outcome.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7C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  <a:latin typeface="Aptos"/>
              </a:defRPr>
            </a:pPr>
            <a:r>
              <a:t>BankEase Financial Services  •  Customer Retention &amp; Churn Analysis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63B"/>
                </a:solidFill>
                <a:latin typeface="Aptos Display"/>
              </a:defRPr>
            </a:pPr>
            <a:r>
              <a:t>Implementation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45920"/>
            <a:ext cx="2011680" cy="3337560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874519"/>
            <a:ext cx="1691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D28D9"/>
                </a:solidFill>
                <a:latin typeface="Aptos Display"/>
              </a:defRPr>
            </a:pPr>
            <a:r>
              <a:t>1. Data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651760"/>
            <a:ext cx="16916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1E2F"/>
                </a:solidFill>
                <a:latin typeface="Aptos"/>
              </a:defRPr>
            </a:pPr>
            <a:r>
              <a:t>Common customer ID</a:t>
            </a:r>
          </a:p>
          <a:p>
            <a:pPr>
              <a:spcAft>
                <a:spcPts val="800"/>
              </a:spcAft>
              <a:defRPr sz="1100">
                <a:solidFill>
                  <a:srgbClr val="1E1E2F"/>
                </a:solidFill>
                <a:latin typeface="Aptos"/>
              </a:defRPr>
            </a:pPr>
            <a:r>
              <a:t>Quality checks</a:t>
            </a:r>
          </a:p>
          <a:p>
            <a:pPr>
              <a:spcAft>
                <a:spcPts val="800"/>
              </a:spcAft>
              <a:defRPr sz="1100">
                <a:solidFill>
                  <a:srgbClr val="1E1E2F"/>
                </a:solidFill>
                <a:latin typeface="Aptos"/>
              </a:defRPr>
            </a:pPr>
            <a:r>
              <a:t>KPI definitions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39" y="1645920"/>
            <a:ext cx="2011680" cy="3337560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1874519"/>
            <a:ext cx="1691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D28D9"/>
                </a:solidFill>
                <a:latin typeface="Aptos Display"/>
              </a:defRPr>
            </a:pPr>
            <a:r>
              <a:t>2.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2651760"/>
            <a:ext cx="16916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1E2F"/>
                </a:solidFill>
                <a:latin typeface="Aptos"/>
              </a:defRPr>
            </a:pPr>
            <a:r>
              <a:t>Validated data</a:t>
            </a:r>
          </a:p>
          <a:p>
            <a:pPr>
              <a:spcAft>
                <a:spcPts val="800"/>
              </a:spcAft>
              <a:defRPr sz="1100">
                <a:solidFill>
                  <a:srgbClr val="1E1E2F"/>
                </a:solidFill>
                <a:latin typeface="Aptos"/>
              </a:defRPr>
            </a:pPr>
            <a:r>
              <a:t>Power BI reporting</a:t>
            </a:r>
          </a:p>
          <a:p>
            <a:pPr>
              <a:spcAft>
                <a:spcPts val="800"/>
              </a:spcAft>
              <a:defRPr sz="1100">
                <a:solidFill>
                  <a:srgbClr val="1E1E2F"/>
                </a:solidFill>
                <a:latin typeface="Aptos"/>
              </a:defRPr>
            </a:pPr>
            <a:r>
              <a:t>Management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59" y="1645920"/>
            <a:ext cx="2011680" cy="3337560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0951" y="1874519"/>
            <a:ext cx="1691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D28D9"/>
                </a:solidFill>
                <a:latin typeface="Aptos Display"/>
              </a:defRPr>
            </a:pPr>
            <a:r>
              <a:t>3. Risk Prioritization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0951" y="2651760"/>
            <a:ext cx="16916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1E2F"/>
                </a:solidFill>
                <a:latin typeface="Aptos"/>
              </a:defRPr>
            </a:pPr>
            <a:r>
              <a:t>Risk indicators</a:t>
            </a:r>
          </a:p>
          <a:p>
            <a:pPr>
              <a:spcAft>
                <a:spcPts val="800"/>
              </a:spcAft>
              <a:defRPr sz="1100">
                <a:solidFill>
                  <a:srgbClr val="1E1E2F"/>
                </a:solidFill>
                <a:latin typeface="Aptos"/>
              </a:defRPr>
            </a:pPr>
            <a:r>
              <a:t>Threshold validation</a:t>
            </a:r>
          </a:p>
          <a:p>
            <a:pPr>
              <a:spcAft>
                <a:spcPts val="800"/>
              </a:spcAft>
              <a:defRPr sz="1100">
                <a:solidFill>
                  <a:srgbClr val="1E1E2F"/>
                </a:solidFill>
                <a:latin typeface="Aptos"/>
              </a:defRPr>
            </a:pPr>
            <a:r>
              <a:t>Retention worklists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645920"/>
            <a:ext cx="2011680" cy="3337560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62671" y="1874519"/>
            <a:ext cx="1691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D28D9"/>
                </a:solidFill>
                <a:latin typeface="Aptos Display"/>
              </a:defRPr>
            </a:pPr>
            <a:r>
              <a:t>4. Retention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2671" y="2651760"/>
            <a:ext cx="16916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1E2F"/>
                </a:solidFill>
                <a:latin typeface="Aptos"/>
              </a:defRPr>
            </a:pPr>
            <a:r>
              <a:t>Target segments</a:t>
            </a:r>
          </a:p>
          <a:p>
            <a:pPr>
              <a:spcAft>
                <a:spcPts val="800"/>
              </a:spcAft>
              <a:defRPr sz="1100">
                <a:solidFill>
                  <a:srgbClr val="1E1E2F"/>
                </a:solidFill>
                <a:latin typeface="Aptos"/>
              </a:defRPr>
            </a:pPr>
            <a:r>
              <a:t>Targeted actions</a:t>
            </a:r>
          </a:p>
          <a:p>
            <a:pPr>
              <a:spcAft>
                <a:spcPts val="800"/>
              </a:spcAft>
              <a:defRPr sz="1100">
                <a:solidFill>
                  <a:srgbClr val="1E1E2F"/>
                </a:solidFill>
                <a:latin typeface="Aptos"/>
              </a:defRPr>
            </a:pPr>
            <a:r>
              <a:t>Outcome tracking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1645920"/>
            <a:ext cx="2011680" cy="3337560"/>
          </a:xfrm>
          <a:prstGeom prst="roundRect">
            <a:avLst/>
          </a:prstGeom>
          <a:solidFill>
            <a:srgbClr val="F8F9FC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94392" y="1874519"/>
            <a:ext cx="1691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D28D9"/>
                </a:solidFill>
                <a:latin typeface="Aptos Display"/>
              </a:defRPr>
            </a:pPr>
            <a:r>
              <a:t>5. Continuous Improvement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94392" y="2651760"/>
            <a:ext cx="16916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1E2F"/>
                </a:solidFill>
                <a:latin typeface="Aptos"/>
              </a:defRPr>
            </a:pPr>
            <a:r>
              <a:t>Measure outcomes</a:t>
            </a:r>
          </a:p>
          <a:p>
            <a:pPr>
              <a:spcAft>
                <a:spcPts val="800"/>
              </a:spcAft>
              <a:defRPr sz="1100">
                <a:solidFill>
                  <a:srgbClr val="1E1E2F"/>
                </a:solidFill>
                <a:latin typeface="Aptos"/>
              </a:defRPr>
            </a:pPr>
            <a:r>
              <a:t>Refine rules</a:t>
            </a:r>
          </a:p>
          <a:p>
            <a:pPr>
              <a:spcAft>
                <a:spcPts val="800"/>
              </a:spcAft>
              <a:defRPr sz="1100">
                <a:solidFill>
                  <a:srgbClr val="1E1E2F"/>
                </a:solidFill>
                <a:latin typeface="Aptos"/>
              </a:defRPr>
            </a:pPr>
            <a:r>
              <a:t>Review KPIs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7C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  <a:latin typeface="Aptos"/>
              </a:defRPr>
            </a:pPr>
            <a:r>
              <a:t>BankEase Financial Services  •  Customer Retention &amp; Churn Analysis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63B"/>
                </a:solidFill>
                <a:latin typeface="Aptos Display"/>
              </a:defRPr>
            </a:pPr>
            <a:r>
              <a:t>Business Analyst Skills Demonstrated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E1E2F"/>
                </a:solidFill>
                <a:latin typeface="Aptos"/>
              </a:defRPr>
            </a:pPr>
            <a:r>
              <a:t>Stakeholder identification, interviews and Power–Interest analysis</a:t>
            </a:r>
          </a:p>
          <a:p>
            <a:pPr>
              <a:spcAft>
                <a:spcPts val="1000"/>
              </a:spcAft>
              <a:defRPr sz="1700" b="0">
                <a:solidFill>
                  <a:srgbClr val="1E1E2F"/>
                </a:solidFill>
                <a:latin typeface="Aptos"/>
              </a:defRPr>
            </a:pPr>
            <a:r>
              <a:t>Business problem definition and Project Charter development</a:t>
            </a:r>
          </a:p>
          <a:p>
            <a:pPr>
              <a:spcAft>
                <a:spcPts val="1000"/>
              </a:spcAft>
              <a:defRPr sz="1700" b="0">
                <a:solidFill>
                  <a:srgbClr val="1E1E2F"/>
                </a:solidFill>
                <a:latin typeface="Aptos"/>
              </a:defRPr>
            </a:pPr>
            <a:r>
              <a:t>BRD, functional requirements and non-functional requirements</a:t>
            </a:r>
          </a:p>
          <a:p>
            <a:pPr>
              <a:spcAft>
                <a:spcPts val="1000"/>
              </a:spcAft>
              <a:defRPr sz="1700" b="0">
                <a:solidFill>
                  <a:srgbClr val="1E1E2F"/>
                </a:solidFill>
                <a:latin typeface="Aptos"/>
              </a:defRPr>
            </a:pPr>
            <a:r>
              <a:t>User stories, acceptance criteria and Requirements Traceability Matrix</a:t>
            </a:r>
          </a:p>
          <a:p>
            <a:pPr>
              <a:spcAft>
                <a:spcPts val="1000"/>
              </a:spcAft>
              <a:defRPr sz="1700" b="0">
                <a:solidFill>
                  <a:srgbClr val="1E1E2F"/>
                </a:solidFill>
                <a:latin typeface="Aptos"/>
              </a:defRPr>
            </a:pPr>
            <a:r>
              <a:t>As-Is process mapping, gap analysis and To-Be process design</a:t>
            </a:r>
          </a:p>
          <a:p>
            <a:pPr>
              <a:spcAft>
                <a:spcPts val="1000"/>
              </a:spcAft>
              <a:defRPr sz="1700" b="0">
                <a:solidFill>
                  <a:srgbClr val="1E1E2F"/>
                </a:solidFill>
                <a:latin typeface="Aptos"/>
              </a:defRPr>
            </a:pPr>
            <a:r>
              <a:t>Data dictionary, data-quality assessment and business rules</a:t>
            </a:r>
          </a:p>
          <a:p>
            <a:pPr>
              <a:spcAft>
                <a:spcPts val="1000"/>
              </a:spcAft>
              <a:defRPr sz="1700" b="0">
                <a:solidFill>
                  <a:srgbClr val="1E1E2F"/>
                </a:solidFill>
                <a:latin typeface="Aptos"/>
              </a:defRPr>
            </a:pPr>
            <a:r>
              <a:t>SQL-based data validation, KPI analysis and business querying</a:t>
            </a:r>
          </a:p>
          <a:p>
            <a:pPr>
              <a:spcAft>
                <a:spcPts val="1000"/>
              </a:spcAft>
              <a:defRPr sz="1700" b="0">
                <a:solidFill>
                  <a:srgbClr val="1E1E2F"/>
                </a:solidFill>
                <a:latin typeface="Aptos"/>
              </a:defRPr>
            </a:pPr>
            <a:r>
              <a:t>Power BI dashboard design, interactive filtering and decision support</a:t>
            </a:r>
          </a:p>
          <a:p>
            <a:pPr>
              <a:spcAft>
                <a:spcPts val="1000"/>
              </a:spcAft>
              <a:defRPr sz="1700" b="0">
                <a:solidFill>
                  <a:srgbClr val="1E1E2F"/>
                </a:solidFill>
                <a:latin typeface="Aptos"/>
              </a:defRPr>
            </a:pPr>
            <a:r>
              <a:t>Insight generation, business recommendations and implementation roadmap</a:t>
            </a:r>
          </a:p>
          <a:p>
            <a:pPr>
              <a:spcAft>
                <a:spcPts val="1000"/>
              </a:spcAft>
              <a:defRPr sz="1700" b="0">
                <a:solidFill>
                  <a:srgbClr val="1E1E2F"/>
                </a:solidFill>
                <a:latin typeface="Aptos"/>
              </a:defRPr>
            </a:pPr>
            <a:r>
              <a:t>Clear documentation and end-to-end case-study communication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7C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  <a:latin typeface="Aptos"/>
              </a:defRPr>
            </a:pPr>
            <a:r>
              <a:t>BankEase Financial Services  •  Customer Retention &amp; Churn Analysis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63B"/>
                </a:solidFill>
                <a:latin typeface="Aptos Display"/>
              </a:defRPr>
            </a:pPr>
            <a:r>
              <a:t>Limitations &amp; Responsible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E1E2F"/>
                </a:solidFill>
                <a:latin typeface="Aptos"/>
              </a:defRPr>
            </a:pPr>
            <a:r>
              <a:t>The dataset is synthetic and does not represent real BankEase customers or real banking-industry statistics.</a:t>
            </a:r>
          </a:p>
          <a:p>
            <a:pPr>
              <a:spcAft>
                <a:spcPts val="1000"/>
              </a:spcAft>
              <a:defRPr sz="1900" b="0">
                <a:solidFill>
                  <a:srgbClr val="1E1E2F"/>
                </a:solidFill>
                <a:latin typeface="Aptos"/>
              </a:defRPr>
            </a:pPr>
            <a:r>
              <a:t>The analysis identifies associations; it does not prove that any individual factor causes churn.</a:t>
            </a:r>
          </a:p>
          <a:p>
            <a:pPr>
              <a:spcAft>
                <a:spcPts val="1000"/>
              </a:spcAft>
              <a:defRPr sz="1900" b="0">
                <a:solidFill>
                  <a:srgbClr val="1E1E2F"/>
                </a:solidFill>
                <a:latin typeface="Aptos"/>
              </a:defRPr>
            </a:pPr>
            <a:r>
              <a:t>The risk classification is a portfolio framework and is not a production-grade predictive model.</a:t>
            </a:r>
          </a:p>
          <a:p>
            <a:pPr>
              <a:spcAft>
                <a:spcPts val="1000"/>
              </a:spcAft>
              <a:defRPr sz="1900" b="0">
                <a:solidFill>
                  <a:srgbClr val="1E1E2F"/>
                </a:solidFill>
                <a:latin typeface="Aptos"/>
              </a:defRPr>
            </a:pPr>
            <a:r>
              <a:t>Real-world deployment would require validated historical data, governance, privacy controls and business approval.</a:t>
            </a:r>
          </a:p>
          <a:p>
            <a:pPr>
              <a:spcAft>
                <a:spcPts val="1000"/>
              </a:spcAft>
              <a:defRPr sz="1900" b="0">
                <a:solidFill>
                  <a:srgbClr val="1E1E2F"/>
                </a:solidFill>
                <a:latin typeface="Aptos"/>
              </a:defRPr>
            </a:pPr>
            <a:r>
              <a:t>Retention interventions should be piloted and evaluated using measurable outcomes before wider rollout.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440680"/>
            <a:ext cx="10698480" cy="731520"/>
          </a:xfrm>
          <a:prstGeom prst="roundRect">
            <a:avLst/>
          </a:prstGeom>
          <a:solidFill>
            <a:srgbClr val="F5F2FC"/>
          </a:solidFill>
          <a:ln>
            <a:solidFill>
              <a:srgbClr val="E1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550408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B263B"/>
                </a:solidFill>
                <a:latin typeface="Aptos"/>
              </a:defRPr>
            </a:pPr>
            <a:r>
              <a:t>Portfolio objective: demonstrate an end-to-end Business Analysis approach from problem definition to data-driven recommendation.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7C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  <a:latin typeface="Aptos"/>
              </a:defRPr>
            </a:pPr>
            <a:r>
              <a:t>BankEase Financial Services  •  Customer Retention &amp; Churn Analysis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B263B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241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E1E2F"/>
                </a:solidFill>
                <a:latin typeface="Aptos"/>
              </a:defRPr>
            </a:pPr>
            <a:r>
              <a:t>BankEase can move from reactive churn reporting toward structured, data-informed retention prioritization.</a:t>
            </a:r>
          </a:p>
          <a:p>
            <a:pPr>
              <a:spcAft>
                <a:spcPts val="1000"/>
              </a:spcAft>
              <a:defRPr sz="2100" b="0">
                <a:solidFill>
                  <a:srgbClr val="1E1E2F"/>
                </a:solidFill>
                <a:latin typeface="Aptos"/>
              </a:defRPr>
            </a:pPr>
            <a:r>
              <a:t>Transaction recency, complaint frequency and risk level provide useful signals for prioritization in the synthetic dataset.</a:t>
            </a:r>
          </a:p>
          <a:p>
            <a:pPr>
              <a:spcAft>
                <a:spcPts val="1000"/>
              </a:spcAft>
              <a:defRPr sz="2100" b="0">
                <a:solidFill>
                  <a:srgbClr val="1E1E2F"/>
                </a:solidFill>
                <a:latin typeface="Aptos"/>
              </a:defRPr>
            </a:pPr>
            <a:r>
              <a:t>A standardized KPI framework and Power BI dashboard improve management visibility.</a:t>
            </a:r>
          </a:p>
          <a:p>
            <a:pPr>
              <a:spcAft>
                <a:spcPts val="1000"/>
              </a:spcAft>
              <a:defRPr sz="2100" b="0">
                <a:solidFill>
                  <a:srgbClr val="1E1E2F"/>
                </a:solidFill>
                <a:latin typeface="Aptos"/>
              </a:defRPr>
            </a:pPr>
            <a:r>
              <a:t>A closed-loop process can connect identification, intervention, outcome tracking and continuous improvement.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074920"/>
            <a:ext cx="10698480" cy="777240"/>
          </a:xfrm>
          <a:prstGeom prst="roundRect">
            <a:avLst/>
          </a:prstGeom>
          <a:solidFill>
            <a:srgbClr val="F5F2FC"/>
          </a:solidFill>
          <a:ln>
            <a:solidFill>
              <a:srgbClr val="E1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184648"/>
            <a:ext cx="1024128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B263B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7C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  <a:latin typeface="Aptos"/>
              </a:defRPr>
            </a:pPr>
            <a:r>
              <a:t>BankEase Financial Services  •  Customer Retention &amp; Churn Analysis   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